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标题文本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标题文本</a:t>
            </a:r>
          </a:p>
        </p:txBody>
      </p:sp>
      <p:sp>
        <p:nvSpPr>
          <p:cNvPr id="12" name="正文级别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3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文本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标题文本</a:t>
            </a:r>
          </a:p>
        </p:txBody>
      </p:sp>
      <p:sp>
        <p:nvSpPr>
          <p:cNvPr id="21" name="正文级别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22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标题文本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标题文本</a:t>
            </a:r>
          </a:p>
        </p:txBody>
      </p:sp>
      <p:sp>
        <p:nvSpPr>
          <p:cNvPr id="30" name="正文级别 1…"/>
          <p:cNvSpPr txBox="1"/>
          <p:nvPr>
            <p:ph type="body" sz="quarter" idx="1"/>
          </p:nvPr>
        </p:nvSpPr>
        <p:spPr>
          <a:xfrm>
            <a:off x="722312" y="2906713"/>
            <a:ext cx="7772401" cy="1500189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3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标题文本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标题文本</a:t>
            </a:r>
          </a:p>
        </p:txBody>
      </p:sp>
      <p:sp>
        <p:nvSpPr>
          <p:cNvPr id="39" name="正文级别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0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标题文本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标题文本</a:t>
            </a:r>
          </a:p>
        </p:txBody>
      </p:sp>
      <p:sp>
        <p:nvSpPr>
          <p:cNvPr id="48" name="正文级别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65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标题文本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标题文本</a:t>
            </a:r>
          </a:p>
        </p:txBody>
      </p:sp>
      <p:sp>
        <p:nvSpPr>
          <p:cNvPr id="58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标题文本"/>
          <p:cNvSpPr txBox="1"/>
          <p:nvPr>
            <p:ph type="title"/>
          </p:nvPr>
        </p:nvSpPr>
        <p:spPr>
          <a:xfrm>
            <a:off x="457200" y="273050"/>
            <a:ext cx="3008315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标题文本</a:t>
            </a:r>
          </a:p>
        </p:txBody>
      </p:sp>
      <p:sp>
        <p:nvSpPr>
          <p:cNvPr id="73" name="正文级别 1…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74" name="Text Placeholder 3"/>
          <p:cNvSpPr/>
          <p:nvPr>
            <p:ph type="body" sz="half" idx="21"/>
          </p:nvPr>
        </p:nvSpPr>
        <p:spPr>
          <a:xfrm>
            <a:off x="457198" y="1435100"/>
            <a:ext cx="3008316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标题文本"/>
          <p:cNvSpPr txBox="1"/>
          <p:nvPr>
            <p:ph type="title"/>
          </p:nvPr>
        </p:nvSpPr>
        <p:spPr>
          <a:xfrm>
            <a:off x="1792288" y="4800600"/>
            <a:ext cx="5486402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标题文本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2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正文级别 1…"/>
          <p:cNvSpPr txBox="1"/>
          <p:nvPr>
            <p:ph type="body" sz="quarter" idx="1"/>
          </p:nvPr>
        </p:nvSpPr>
        <p:spPr>
          <a:xfrm>
            <a:off x="1792288" y="5367337"/>
            <a:ext cx="5486402" cy="80486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8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标题文本</a:t>
            </a:r>
          </a:p>
        </p:txBody>
      </p:sp>
      <p:sp>
        <p:nvSpPr>
          <p:cNvPr id="3" name="正文级别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" name="幻灯片编号"/>
          <p:cNvSpPr txBox="1"/>
          <p:nvPr>
            <p:ph type="sldNum" sz="quarter" idx="2"/>
          </p:nvPr>
        </p:nvSpPr>
        <p:spPr>
          <a:xfrm>
            <a:off x="8428178" y="6414761"/>
            <a:ext cx="258623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itle 1"/>
          <p:cNvSpPr txBox="1"/>
          <p:nvPr>
            <p:ph type="ctr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课程项目提交与答辩管理系统</a:t>
            </a:r>
          </a:p>
        </p:txBody>
      </p:sp>
      <p:sp>
        <p:nvSpPr>
          <p:cNvPr id="95" name="Subtitle 2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288036">
              <a:spcBef>
                <a:spcPts val="400"/>
              </a:spcBef>
              <a:defRPr sz="2000">
                <a:latin typeface="+mn-lt"/>
                <a:ea typeface="+mn-ea"/>
                <a:cs typeface="+mn-cs"/>
                <a:sym typeface="Helvetica"/>
              </a:defRPr>
            </a:pPr>
            <a:r>
              <a:t>上海大学理学院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· </a:t>
            </a:r>
            <a:r>
              <a:t>数学与应用数学</a:t>
            </a:r>
          </a:p>
          <a:p>
            <a:pPr defTabSz="288036">
              <a:spcBef>
                <a:spcPts val="400"/>
              </a:spcBef>
              <a:defRPr sz="2000">
                <a:latin typeface="+mn-lt"/>
                <a:ea typeface="+mn-ea"/>
                <a:cs typeface="+mn-cs"/>
                <a:sym typeface="Helvetica"/>
              </a:defRPr>
            </a:pPr>
            <a:r>
              <a:t>组员：潘上、邬茗</a:t>
            </a:r>
          </a:p>
          <a:p>
            <a:pPr defTabSz="288036">
              <a:spcBef>
                <a:spcPts val="400"/>
              </a:spcBef>
              <a:defRPr sz="2000">
                <a:latin typeface="+mn-lt"/>
                <a:ea typeface="+mn-ea"/>
                <a:cs typeface="+mn-cs"/>
                <a:sym typeface="Helvetica"/>
              </a:defRPr>
            </a:pPr>
            <a:r>
              <a:t>课程：数据库设计与开发</a:t>
            </a:r>
          </a:p>
          <a:p>
            <a:pPr defTabSz="288036">
              <a:spcBef>
                <a:spcPts val="400"/>
              </a:spcBef>
              <a:defRPr sz="2000">
                <a:latin typeface="+mn-lt"/>
                <a:ea typeface="+mn-ea"/>
                <a:cs typeface="+mn-cs"/>
                <a:sym typeface="Helvetica"/>
              </a:defRPr>
            </a:pPr>
            <a:r>
              <a:t>日期：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2025</a:t>
            </a:r>
            <a:r>
              <a:t>年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7</a:t>
            </a:r>
            <a:r>
              <a:t>月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1.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项目背景与引言</a:t>
            </a:r>
          </a:p>
        </p:txBody>
      </p:sp>
      <p:sp>
        <p:nvSpPr>
          <p:cNvPr id="98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传统论文管理流程存在材料分散、沟通繁琐等问题。</a:t>
            </a: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本项目构建统一在线平台，实现学生提交、教师评分、管理员统筹的全流程管理。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2.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系统总体架构</a:t>
            </a:r>
          </a:p>
        </p:txBody>
      </p:sp>
      <p:sp>
        <p:nvSpPr>
          <p:cNvPr id="101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核心原则：轻量、易部署、可复现。</a:t>
            </a: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架构：前端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(HTML+TailwindCSS) → </a:t>
            </a:r>
            <a:r>
              <a:t>后端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(Bun+Elysia.js) → </a:t>
            </a:r>
            <a:r>
              <a:t>数据库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(SQLite)</a:t>
            </a:r>
            <a:endParaRPr>
              <a:latin typeface="+mj-lt"/>
              <a:ea typeface="+mj-ea"/>
              <a:cs typeface="+mj-cs"/>
              <a:sym typeface="Calibri"/>
            </a:endParaRP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单进程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Bun</a:t>
            </a:r>
            <a:r>
              <a:t>服务提供静态资源与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REST API</a:t>
            </a:r>
            <a:r>
              <a:t>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3.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技术选型</a:t>
            </a:r>
          </a:p>
        </p:txBody>
      </p:sp>
      <p:sp>
        <p:nvSpPr>
          <p:cNvPr id="104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后端：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Bun + Elysia.js</a:t>
            </a:r>
            <a:r>
              <a:t>（高性能、类型安全）</a:t>
            </a: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数据库：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SQLite</a:t>
            </a:r>
            <a:r>
              <a:t>（零配置、支持外键）</a:t>
            </a: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前端：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HTML + TailwindCSS + </a:t>
            </a:r>
            <a:r>
              <a:t>原生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JS</a:t>
            </a:r>
            <a:endParaRPr>
              <a:latin typeface="+mj-lt"/>
              <a:ea typeface="+mj-ea"/>
              <a:cs typeface="+mj-cs"/>
              <a:sym typeface="Calibri"/>
            </a:endParaRP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会话：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HttpOnly Cookie + </a:t>
            </a:r>
            <a:r>
              <a:t>内存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Map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4.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数据库需求分析</a:t>
            </a:r>
          </a:p>
        </p:txBody>
      </p:sp>
      <p:sp>
        <p:nvSpPr>
          <p:cNvPr id="107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三类角色：学生、教师、管理员。</a:t>
            </a: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核心需求：角色认证、唯一论文约束、教师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-</a:t>
            </a:r>
            <a:r>
              <a:t>时段多对多、评分唯一性、幂等写入。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5.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数据库设计</a:t>
            </a:r>
          </a:p>
        </p:txBody>
      </p:sp>
      <p:sp>
        <p:nvSpPr>
          <p:cNvPr id="110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五张核心表：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users</a:t>
            </a:r>
            <a:r>
              <a:t>、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defense_slots</a:t>
            </a:r>
            <a:r>
              <a:t>、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projects</a:t>
            </a:r>
            <a:r>
              <a:t>、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teacher_assignments</a:t>
            </a:r>
            <a:r>
              <a:t>、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scores</a:t>
            </a:r>
            <a:r>
              <a:t>。</a:t>
            </a:r>
          </a:p>
        </p:txBody>
      </p:sp>
      <p:pic>
        <p:nvPicPr>
          <p:cNvPr id="111" name="曾续缘ER图.png" descr="曾续缘ER图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96780" y="3132766"/>
            <a:ext cx="5431348" cy="366714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6.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后端实现</a:t>
            </a:r>
          </a:p>
        </p:txBody>
      </p:sp>
      <p:sp>
        <p:nvSpPr>
          <p:cNvPr id="114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使用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Elysia</a:t>
            </a:r>
            <a:r>
              <a:t>框架实现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REST API</a:t>
            </a:r>
            <a:r>
              <a:t>。</a:t>
            </a: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模块划分：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auth</a:t>
            </a:r>
            <a:r>
              <a:t>、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student</a:t>
            </a:r>
            <a:r>
              <a:t>、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teacher</a:t>
            </a:r>
            <a:r>
              <a:t>、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admin</a:t>
            </a:r>
            <a:r>
              <a:t>。</a:t>
            </a: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核心逻辑：会话校验、幂等写入、角色访问控制、错误日志管理。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7.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前端实现</a:t>
            </a:r>
          </a:p>
        </p:txBody>
      </p:sp>
      <p:sp>
        <p:nvSpPr>
          <p:cNvPr id="117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HTML + JS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构建页面，</a:t>
            </a:r>
            <a:r>
              <a:t>TailwindCSS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美化。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主要页面：登录、学生、教师、管理员。</a:t>
            </a: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统一请求封装与表格渲染、角色跳转与错误提示。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8.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系统运行与验证</a:t>
            </a:r>
          </a:p>
        </p:txBody>
      </p:sp>
      <p:sp>
        <p:nvSpPr>
          <p:cNvPr id="120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运行步骤：</a:t>
            </a:r>
          </a:p>
          <a:p>
            <a:pPr/>
            <a:r>
              <a:t>1. bun install</a:t>
            </a:r>
          </a:p>
          <a:p>
            <a:pPr/>
            <a:r>
              <a:t>2. bun run src/db/initDB.ts</a:t>
            </a:r>
          </a:p>
          <a:p>
            <a:pPr/>
            <a:r>
              <a:t>3. bun run dev</a:t>
            </a: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验证：三角色闭环操作、约束测试、并发一致性。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9.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性能与安全</a:t>
            </a:r>
          </a:p>
        </p:txBody>
      </p:sp>
      <p:sp>
        <p:nvSpPr>
          <p:cNvPr id="123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SQLite + Bun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支撑</a:t>
            </a:r>
            <a:r>
              <a:t>30-50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并发。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幂等机制避免重复写入。</a:t>
            </a: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安全策略：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HttpOnly Cookie</a:t>
            </a:r>
            <a:r>
              <a:t>、最小输入校验、明确的清理路径。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10.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总结与展望</a:t>
            </a:r>
          </a:p>
        </p:txBody>
      </p:sp>
      <p:sp>
        <p:nvSpPr>
          <p:cNvPr id="126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已实现：论文提交与答辩管理闭环。</a:t>
            </a: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未来方向：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Redis</a:t>
            </a:r>
            <a:r>
              <a:t>会话、文件上传、通知系统、学术检测、导入导出功能。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